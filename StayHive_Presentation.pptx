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presenting StayHive, a comprehensive full-stack vacation rental and accommodation web platform inspired by Airbnb. It empowers property hosts to list unique stays and enables travelers to discover places worldwide with interactive maps and authentic reviews. The project is currently live on Vercel at stay-hive-three.vercel.app.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why StayHive was built. Existing platforms are often overly complex or closed off. StayHive solves this by giving users a clean, responsive Airbnb-like UI where listings have verified coordinates, dynamic cloud images, and secure owner management.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StayHive is architected strictly following the Model-View-Controller (MVC) paradigm. This ensures clean separation of concerns: EJS templates handle rendering, Express controllers manage the business rules, and Mongoose schemas protect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breakdown of the technologies used. Notice the blend of battle-tested open source libraries with modern cloud services like MongoDB Atlas, Cloudinary, and Mapbox.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core modules form the backbone of StayHive. From geocoding every listing on the fly to interactive review systems and real-time tax toggles, the user experience closely mirrors Airbnb.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central to StayHive. We implemented both client-side and server-side validation using Joi, and applied strict middleware boundaries so unauthorized users cannot tamper with listings or reviews.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database schema design. We utilize relational references in MongoDB using Mongoose ObjectIds. Notice the GeoJSON point field in the Listing schema, which enables precise spatial plotting on Mapbox.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Deploying an Express app to Vercel requires adapting traditional long-running Node servers into serverless functions. We configured MongoDB connection caching, bundled EJS templates, and isolated all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key technical challenges encountered during development and deployment, particularly around serverless architecture, database pooling, and cascade document cleanup.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StayHive demonstrates an end-to-end full stack development lifecycle, from local MVP to a live serverless deployment. Thank you for your time, and I would now love to open the floor to any questions and run a live demonstration of the website!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0" cy="73152"/>
          </a:xfrm>
          <a:prstGeom prst="rect">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515600" cy="2743200"/>
          </a:xfrm>
          <a:prstGeom prst="rect">
            <a:avLst/>
          </a:prstGeom>
          <a:noFill/>
        </p:spPr>
        <p:txBody>
          <a:bodyPr wrap="square">
            <a:spAutoFit/>
          </a:bodyPr>
          <a:lstStyle/>
          <a:p>
            <a:pPr>
              <a:defRPr sz="4600" b="1">
                <a:solidFill>
                  <a:srgbClr val="FE424D"/>
                </a:solidFill>
              </a:defRPr>
            </a:pPr>
            <a:r>
              <a:t>🏡 StayHive</a:t>
            </a:r>
          </a:p>
          <a:p>
            <a:pPr>
              <a:spcBef>
                <a:spcPts val="800"/>
              </a:spcBef>
              <a:defRPr sz="2600" b="1">
                <a:solidFill>
                  <a:srgbClr val="FFFFFF"/>
                </a:solidFill>
              </a:defRPr>
            </a:pPr>
            <a:r>
              <a:t>Full-Stack Vacation Rental &amp; Accommodation Platform</a:t>
            </a:r>
          </a:p>
          <a:p>
            <a:pPr>
              <a:spcBef>
                <a:spcPts val="1200"/>
              </a:spcBef>
              <a:defRPr sz="1600">
                <a:solidFill>
                  <a:srgbClr val="94A3B8"/>
                </a:solidFill>
              </a:defRPr>
            </a:pPr>
            <a:r>
              <a:t>Inspired by Airbnb | Built with Node.js, Express, MongoDB Atlas, Mapbox &amp; Cloudinary</a:t>
            </a:r>
          </a:p>
        </p:txBody>
      </p:sp>
      <p:sp>
        <p:nvSpPr>
          <p:cNvPr id="5" name="Rounded Rectangle 4"/>
          <p:cNvSpPr/>
          <p:nvPr/>
        </p:nvSpPr>
        <p:spPr>
          <a:xfrm>
            <a:off x="731520" y="4937760"/>
            <a:ext cx="10698480" cy="10972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029200"/>
            <a:ext cx="10149840" cy="914400"/>
          </a:xfrm>
          <a:prstGeom prst="rect">
            <a:avLst/>
          </a:prstGeom>
          <a:noFill/>
        </p:spPr>
        <p:txBody>
          <a:bodyPr wrap="none">
            <a:spAutoFit/>
          </a:bodyPr>
          <a:lstStyle/>
          <a:p>
            <a:pPr>
              <a:defRPr sz="1500" b="1">
                <a:solidFill>
                  <a:srgbClr val="FFFFFF"/>
                </a:solidFill>
              </a:defRPr>
            </a:pPr>
            <a:r>
              <a:t>Presenter: Aniket Rajpoot  |  Project: Full-Stack Web Development</a:t>
            </a:r>
          </a:p>
          <a:p>
            <a:pPr>
              <a:spcBef>
                <a:spcPts val="600"/>
              </a:spcBef>
              <a:defRPr sz="1300">
                <a:solidFill>
                  <a:srgbClr val="0EA5E9"/>
                </a:solidFill>
              </a:defRPr>
            </a:pPr>
            <a:r>
              <a:t>🌐 Live Demo: https://stay-hive-three.vercel.app/listings  |  GitHub: github.com/aniketrajpoot15/StayHive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Executive Overview &amp; Problem Statement</a:t>
            </a:r>
          </a:p>
        </p:txBody>
      </p:sp>
      <p:sp>
        <p:nvSpPr>
          <p:cNvPr id="5" name="Rounded Rectangle 4"/>
          <p:cNvSpPr/>
          <p:nvPr/>
        </p:nvSpPr>
        <p:spPr>
          <a:xfrm>
            <a:off x="731520" y="1645920"/>
            <a:ext cx="3383280" cy="4572000"/>
          </a:xfrm>
          <a:prstGeom prst="roundRect">
            <a:avLst/>
          </a:prstGeom>
          <a:solidFill>
            <a:srgbClr val="FFFFFF"/>
          </a:solidFill>
          <a:ln w="12700">
            <a:solidFill>
              <a:srgbClr val="FE4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4114800"/>
          </a:xfrm>
          <a:prstGeom prst="rect">
            <a:avLst/>
          </a:prstGeom>
          <a:noFill/>
        </p:spPr>
        <p:txBody>
          <a:bodyPr wrap="square">
            <a:spAutoFit/>
          </a:bodyPr>
          <a:lstStyle/>
          <a:p>
            <a:pPr>
              <a:defRPr sz="1800" b="1">
                <a:solidFill>
                  <a:srgbClr val="FE424D"/>
                </a:solidFill>
              </a:defRPr>
            </a:pPr>
            <a:r>
              <a:t>❌ The Problem</a:t>
            </a:r>
          </a:p>
          <a:p>
            <a:pPr>
              <a:spcBef>
                <a:spcPts val="1200"/>
              </a:spcBef>
              <a:defRPr sz="1300">
                <a:solidFill>
                  <a:srgbClr val="1E293B"/>
                </a:solidFill>
              </a:defRPr>
            </a:pPr>
            <a:r>
              <a:t>• High barrier for local hosts to showcase distinctive stays.</a:t>
            </a:r>
          </a:p>
          <a:p>
            <a:pPr>
              <a:spcBef>
                <a:spcPts val="1200"/>
              </a:spcBef>
              <a:defRPr sz="1300">
                <a:solidFill>
                  <a:srgbClr val="1E293B"/>
                </a:solidFill>
              </a:defRPr>
            </a:pPr>
            <a:r>
              <a:t>• Lack of visual location context (where is the stay located?).</a:t>
            </a:r>
          </a:p>
          <a:p>
            <a:pPr>
              <a:spcBef>
                <a:spcPts val="1200"/>
              </a:spcBef>
              <a:defRPr sz="1300">
                <a:solidFill>
                  <a:srgbClr val="1E293B"/>
                </a:solidFill>
              </a:defRPr>
            </a:pPr>
            <a:r>
              <a:t>• Unreliable photo hosting &amp; slow page load times.</a:t>
            </a:r>
          </a:p>
          <a:p>
            <a:pPr>
              <a:spcBef>
                <a:spcPts val="1200"/>
              </a:spcBef>
              <a:defRPr sz="1300">
                <a:solidFill>
                  <a:srgbClr val="1E293B"/>
                </a:solidFill>
              </a:defRPr>
            </a:pPr>
            <a:r>
              <a:t>• Fragmented review and rating verification.</a:t>
            </a:r>
          </a:p>
        </p:txBody>
      </p:sp>
      <p:sp>
        <p:nvSpPr>
          <p:cNvPr id="7" name="Rounded Rectangle 6"/>
          <p:cNvSpPr/>
          <p:nvPr/>
        </p:nvSpPr>
        <p:spPr>
          <a:xfrm>
            <a:off x="4389120" y="1645920"/>
            <a:ext cx="3383280" cy="4572000"/>
          </a:xfrm>
          <a:prstGeom prst="round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4114800"/>
          </a:xfrm>
          <a:prstGeom prst="rect">
            <a:avLst/>
          </a:prstGeom>
          <a:noFill/>
        </p:spPr>
        <p:txBody>
          <a:bodyPr wrap="square">
            <a:spAutoFit/>
          </a:bodyPr>
          <a:lstStyle/>
          <a:p>
            <a:pPr>
              <a:defRPr sz="1800" b="1">
                <a:solidFill>
                  <a:srgbClr val="0EA5E9"/>
                </a:solidFill>
              </a:defRPr>
            </a:pPr>
            <a:r>
              <a:t>💡 The StayHive Solution</a:t>
            </a:r>
          </a:p>
          <a:p>
            <a:pPr>
              <a:spcBef>
                <a:spcPts val="1200"/>
              </a:spcBef>
              <a:defRPr sz="1300">
                <a:solidFill>
                  <a:srgbClr val="1E293B"/>
                </a:solidFill>
              </a:defRPr>
            </a:pPr>
            <a:r>
              <a:t>• Effortless listing creation with real-time forward geocoding.</a:t>
            </a:r>
          </a:p>
          <a:p>
            <a:pPr>
              <a:spcBef>
                <a:spcPts val="1200"/>
              </a:spcBef>
              <a:defRPr sz="1300">
                <a:solidFill>
                  <a:srgbClr val="1E293B"/>
                </a:solidFill>
              </a:defRPr>
            </a:pPr>
            <a:r>
              <a:t>• Interactive Mapbox GL maps embedded with custom location pins.</a:t>
            </a:r>
          </a:p>
          <a:p>
            <a:pPr>
              <a:spcBef>
                <a:spcPts val="1200"/>
              </a:spcBef>
              <a:defRPr sz="1300">
                <a:solidFill>
                  <a:srgbClr val="1E293B"/>
                </a:solidFill>
              </a:defRPr>
            </a:pPr>
            <a:r>
              <a:t>• Optimized cloud media streaming powered by Cloudinary CDN.</a:t>
            </a:r>
          </a:p>
          <a:p>
            <a:pPr>
              <a:spcBef>
                <a:spcPts val="1200"/>
              </a:spcBef>
              <a:defRPr sz="1300">
                <a:solidFill>
                  <a:srgbClr val="1E293B"/>
                </a:solidFill>
              </a:defRPr>
            </a:pPr>
            <a:r>
              <a:t>• Secure user authentication and transparent star reviews.</a:t>
            </a:r>
          </a:p>
        </p:txBody>
      </p:sp>
      <p:sp>
        <p:nvSpPr>
          <p:cNvPr id="9" name="Rounded Rectangle 8"/>
          <p:cNvSpPr/>
          <p:nvPr/>
        </p:nvSpPr>
        <p:spPr>
          <a:xfrm>
            <a:off x="8046720" y="1645920"/>
            <a:ext cx="338328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114800"/>
          </a:xfrm>
          <a:prstGeom prst="rect">
            <a:avLst/>
          </a:prstGeom>
          <a:noFill/>
        </p:spPr>
        <p:txBody>
          <a:bodyPr wrap="square">
            <a:spAutoFit/>
          </a:bodyPr>
          <a:lstStyle/>
          <a:p>
            <a:pPr>
              <a:defRPr sz="1800" b="1">
                <a:solidFill>
                  <a:srgbClr val="0F172A"/>
                </a:solidFill>
              </a:defRPr>
            </a:pPr>
            <a:r>
              <a:t>👥 Key Stakeholders</a:t>
            </a:r>
          </a:p>
          <a:p>
            <a:pPr>
              <a:spcBef>
                <a:spcPts val="1200"/>
              </a:spcBef>
              <a:defRPr sz="1300">
                <a:solidFill>
                  <a:srgbClr val="1E293B"/>
                </a:solidFill>
              </a:defRPr>
            </a:pPr>
            <a:r>
              <a:t>• Guests / Travelers: Browse, filter by category, explore map coordinates, and leave feedback.</a:t>
            </a:r>
          </a:p>
          <a:p>
            <a:pPr>
              <a:spcBef>
                <a:spcPts val="1200"/>
              </a:spcBef>
              <a:defRPr sz="1300">
                <a:solidFill>
                  <a:srgbClr val="1E293B"/>
                </a:solidFill>
              </a:defRPr>
            </a:pPr>
            <a:r>
              <a:t>• Property Hosts: Add new properties, update pricing/photos, and manage listings.</a:t>
            </a:r>
          </a:p>
          <a:p>
            <a:pPr>
              <a:spcBef>
                <a:spcPts val="1200"/>
              </a:spcBef>
              <a:defRPr sz="1300">
                <a:solidFill>
                  <a:srgbClr val="1E293B"/>
                </a:solidFill>
              </a:defRPr>
            </a:pPr>
            <a:r>
              <a:t>• Admins: Ensure platform integrity, data validation, and clean content.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System Architecture &amp; MVC Design Pattern</a:t>
            </a:r>
          </a:p>
        </p:txBody>
      </p:sp>
      <p:sp>
        <p:nvSpPr>
          <p:cNvPr id="5" name="Rounded Rectangle 4"/>
          <p:cNvSpPr/>
          <p:nvPr/>
        </p:nvSpPr>
        <p:spPr>
          <a:xfrm>
            <a:off x="731520" y="1645920"/>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37160" cy="1371600"/>
          </a:xfrm>
          <a:prstGeom prst="rect">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83080"/>
            <a:ext cx="10058400" cy="1097280"/>
          </a:xfrm>
          <a:prstGeom prst="rect">
            <a:avLst/>
          </a:prstGeom>
          <a:noFill/>
        </p:spPr>
        <p:txBody>
          <a:bodyPr wrap="square">
            <a:spAutoFit/>
          </a:bodyPr>
          <a:lstStyle/>
          <a:p>
            <a:pPr>
              <a:defRPr sz="1600" b="1">
                <a:solidFill>
                  <a:srgbClr val="0F172A"/>
                </a:solidFill>
              </a:defRPr>
            </a:pPr>
            <a:r>
              <a:t>🎨 Presentation Layer (View)  —  EJS &amp; EJS-Mate Templates</a:t>
            </a:r>
          </a:p>
          <a:p>
            <a:pPr>
              <a:spcBef>
                <a:spcPts val="300"/>
              </a:spcBef>
              <a:defRPr sz="1200">
                <a:solidFill>
                  <a:srgbClr val="1E293B"/>
                </a:solidFill>
              </a:defRPr>
            </a:pPr>
            <a:r>
              <a:t>✔  Boilerplate layouts &amp; reusable partials (Navbar, Footer, Flash alerts)</a:t>
            </a:r>
          </a:p>
          <a:p>
            <a:pPr>
              <a:spcBef>
                <a:spcPts val="300"/>
              </a:spcBef>
              <a:defRPr sz="1200">
                <a:solidFill>
                  <a:srgbClr val="1E293B"/>
                </a:solidFill>
              </a:defRPr>
            </a:pPr>
            <a:r>
              <a:t>✔  Bootstrap 5.3 + Vanilla CSS3 for Airbnb-inspired aesthetics</a:t>
            </a:r>
          </a:p>
          <a:p>
            <a:pPr>
              <a:spcBef>
                <a:spcPts val="300"/>
              </a:spcBef>
              <a:defRPr sz="1200">
                <a:solidFill>
                  <a:srgbClr val="1E293B"/>
                </a:solidFill>
              </a:defRPr>
            </a:pPr>
            <a:r>
              <a:t>✔  Mapbox GL JS client-side rendering &amp; Starability animated star reviews</a:t>
            </a:r>
          </a:p>
          <a:p>
            <a:pPr>
              <a:spcBef>
                <a:spcPts val="300"/>
              </a:spcBef>
              <a:defRPr sz="1200">
                <a:solidFill>
                  <a:srgbClr val="1E293B"/>
                </a:solidFill>
              </a:defRPr>
            </a:pPr>
            <a:r>
              <a:t>✔  Client-side form validation using HTML5 and Bootstrap classes</a:t>
            </a:r>
          </a:p>
        </p:txBody>
      </p:sp>
      <p:sp>
        <p:nvSpPr>
          <p:cNvPr id="8" name="Rounded Rectangle 7"/>
          <p:cNvSpPr/>
          <p:nvPr/>
        </p:nvSpPr>
        <p:spPr>
          <a:xfrm>
            <a:off x="731520" y="3200400"/>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200400"/>
            <a:ext cx="137160" cy="13716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337560"/>
            <a:ext cx="10058400" cy="1097280"/>
          </a:xfrm>
          <a:prstGeom prst="rect">
            <a:avLst/>
          </a:prstGeom>
          <a:noFill/>
        </p:spPr>
        <p:txBody>
          <a:bodyPr wrap="square">
            <a:spAutoFit/>
          </a:bodyPr>
          <a:lstStyle/>
          <a:p>
            <a:pPr>
              <a:defRPr sz="1600" b="1">
                <a:solidFill>
                  <a:srgbClr val="0F172A"/>
                </a:solidFill>
              </a:defRPr>
            </a:pPr>
            <a:r>
              <a:t>⚙️ Business Logic (Controller &amp; Router)  —  Node.js &amp; Express.js REST APIs</a:t>
            </a:r>
          </a:p>
          <a:p>
            <a:pPr>
              <a:spcBef>
                <a:spcPts val="300"/>
              </a:spcBef>
              <a:defRPr sz="1200">
                <a:solidFill>
                  <a:srgbClr val="1E293B"/>
                </a:solidFill>
              </a:defRPr>
            </a:pPr>
            <a:r>
              <a:t>✔  RESTful routing pattern for Listings, Reviews, and Users</a:t>
            </a:r>
          </a:p>
          <a:p>
            <a:pPr>
              <a:spcBef>
                <a:spcPts val="300"/>
              </a:spcBef>
              <a:defRPr sz="1200">
                <a:solidFill>
                  <a:srgbClr val="1E293B"/>
                </a:solidFill>
              </a:defRPr>
            </a:pPr>
            <a:r>
              <a:t>✔  Express middleware pipeline for auth protection &amp; schema validation</a:t>
            </a:r>
          </a:p>
          <a:p>
            <a:pPr>
              <a:spcBef>
                <a:spcPts val="300"/>
              </a:spcBef>
              <a:defRPr sz="1200">
                <a:solidFill>
                  <a:srgbClr val="1E293B"/>
                </a:solidFill>
              </a:defRPr>
            </a:pPr>
            <a:r>
              <a:t>✔  Mapbox SDK forward geocoding integration (Address -&gt; Lat/Long)</a:t>
            </a:r>
          </a:p>
          <a:p>
            <a:pPr>
              <a:spcBef>
                <a:spcPts val="300"/>
              </a:spcBef>
              <a:defRPr sz="1200">
                <a:solidFill>
                  <a:srgbClr val="1E293B"/>
                </a:solidFill>
              </a:defRPr>
            </a:pPr>
            <a:r>
              <a:t>✔  Multer &amp; Cloudinary streaming storage engine for image uploads</a:t>
            </a:r>
          </a:p>
        </p:txBody>
      </p:sp>
      <p:sp>
        <p:nvSpPr>
          <p:cNvPr id="11" name="Rounded Rectangle 10"/>
          <p:cNvSpPr/>
          <p:nvPr/>
        </p:nvSpPr>
        <p:spPr>
          <a:xfrm>
            <a:off x="731520" y="4754880"/>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754880"/>
            <a:ext cx="13716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1097280"/>
          </a:xfrm>
          <a:prstGeom prst="rect">
            <a:avLst/>
          </a:prstGeom>
          <a:noFill/>
        </p:spPr>
        <p:txBody>
          <a:bodyPr wrap="square">
            <a:spAutoFit/>
          </a:bodyPr>
          <a:lstStyle/>
          <a:p>
            <a:pPr>
              <a:defRPr sz="1600" b="1">
                <a:solidFill>
                  <a:srgbClr val="0F172A"/>
                </a:solidFill>
              </a:defRPr>
            </a:pPr>
            <a:r>
              <a:t>🗄️ Persistence Layer (Model)  —  MongoDB Atlas &amp; Mongoose ODM</a:t>
            </a:r>
          </a:p>
          <a:p>
            <a:pPr>
              <a:spcBef>
                <a:spcPts val="300"/>
              </a:spcBef>
              <a:defRPr sz="1200">
                <a:solidFill>
                  <a:srgbClr val="1E293B"/>
                </a:solidFill>
              </a:defRPr>
            </a:pPr>
            <a:r>
              <a:t>✔  Normalized Mongoose schemas with ObjectId cross-references</a:t>
            </a:r>
          </a:p>
          <a:p>
            <a:pPr>
              <a:spcBef>
                <a:spcPts val="300"/>
              </a:spcBef>
              <a:defRPr sz="1200">
                <a:solidFill>
                  <a:srgbClr val="1E293B"/>
                </a:solidFill>
              </a:defRPr>
            </a:pPr>
            <a:r>
              <a:t>✔  Listing Schema with embedded GeoJSON Point geometry</a:t>
            </a:r>
          </a:p>
          <a:p>
            <a:pPr>
              <a:spcBef>
                <a:spcPts val="300"/>
              </a:spcBef>
              <a:defRPr sz="1200">
                <a:solidFill>
                  <a:srgbClr val="1E293B"/>
                </a:solidFill>
              </a:defRPr>
            </a:pPr>
            <a:r>
              <a:t>✔  Passport-Local-Mongoose plugin for secure user password hashing</a:t>
            </a:r>
          </a:p>
          <a:p>
            <a:pPr>
              <a:spcBef>
                <a:spcPts val="300"/>
              </a:spcBef>
              <a:defRPr sz="1200">
                <a:solidFill>
                  <a:srgbClr val="1E293B"/>
                </a:solidFill>
              </a:defRPr>
            </a:pPr>
            <a:r>
              <a:t>✔  Mongoose post-delete middleware hooks for cascade review cleanup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Technology Stack &amp; Cloud Ecosystem</a:t>
            </a:r>
          </a:p>
        </p:txBody>
      </p:sp>
      <p:sp>
        <p:nvSpPr>
          <p:cNvPr id="5" name="Rounded Rectangle 4"/>
          <p:cNvSpPr/>
          <p:nvPr/>
        </p:nvSpPr>
        <p:spPr>
          <a:xfrm>
            <a:off x="7315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1920240"/>
          </a:xfrm>
          <a:prstGeom prst="rect">
            <a:avLst/>
          </a:prstGeom>
          <a:noFill/>
        </p:spPr>
        <p:txBody>
          <a:bodyPr wrap="square">
            <a:spAutoFit/>
          </a:bodyPr>
          <a:lstStyle/>
          <a:p>
            <a:pPr>
              <a:defRPr sz="1700" b="1">
                <a:solidFill>
                  <a:srgbClr val="FE424D"/>
                </a:solidFill>
              </a:defRPr>
            </a:pPr>
            <a:r>
              <a:t>Frontend Technologies</a:t>
            </a:r>
          </a:p>
          <a:p>
            <a:pPr>
              <a:spcBef>
                <a:spcPts val="400"/>
              </a:spcBef>
              <a:defRPr sz="1200">
                <a:solidFill>
                  <a:srgbClr val="1E293B"/>
                </a:solidFill>
              </a:defRPr>
            </a:pPr>
            <a:r>
              <a:t>• EJS &amp; EJS-Mate: Dynamic server-side templating with modular layouts</a:t>
            </a:r>
          </a:p>
          <a:p>
            <a:pPr>
              <a:spcBef>
                <a:spcPts val="400"/>
              </a:spcBef>
              <a:defRPr sz="1200">
                <a:solidFill>
                  <a:srgbClr val="1E293B"/>
                </a:solidFill>
              </a:defRPr>
            </a:pPr>
            <a:r>
              <a:t>• Bootstrap 5.3: Responsive grid system, modals, forms &amp; dropdowns</a:t>
            </a:r>
          </a:p>
          <a:p>
            <a:pPr>
              <a:spcBef>
                <a:spcPts val="400"/>
              </a:spcBef>
              <a:defRPr sz="1200">
                <a:solidFill>
                  <a:srgbClr val="1E293B"/>
                </a:solidFill>
              </a:defRPr>
            </a:pPr>
            <a:r>
              <a:t>• Vanilla CSS3: Custom glassmorphism, responsive filters &amp; typography</a:t>
            </a:r>
          </a:p>
          <a:p>
            <a:pPr>
              <a:spcBef>
                <a:spcPts val="400"/>
              </a:spcBef>
              <a:defRPr sz="1200">
                <a:solidFill>
                  <a:srgbClr val="1E293B"/>
                </a:solidFill>
              </a:defRPr>
            </a:pPr>
            <a:r>
              <a:t>• Starability CSS: Accessible, interactive star rating widgets</a:t>
            </a:r>
          </a:p>
        </p:txBody>
      </p:sp>
      <p:sp>
        <p:nvSpPr>
          <p:cNvPr id="7" name="Rounded Rectangle 6"/>
          <p:cNvSpPr/>
          <p:nvPr/>
        </p:nvSpPr>
        <p:spPr>
          <a:xfrm>
            <a:off x="62179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1920240"/>
          </a:xfrm>
          <a:prstGeom prst="rect">
            <a:avLst/>
          </a:prstGeom>
          <a:noFill/>
        </p:spPr>
        <p:txBody>
          <a:bodyPr wrap="square">
            <a:spAutoFit/>
          </a:bodyPr>
          <a:lstStyle/>
          <a:p>
            <a:pPr>
              <a:defRPr sz="1700" b="1">
                <a:solidFill>
                  <a:srgbClr val="0EA5E9"/>
                </a:solidFill>
              </a:defRPr>
            </a:pPr>
            <a:r>
              <a:t>Backend &amp; Runtime</a:t>
            </a:r>
          </a:p>
          <a:p>
            <a:pPr>
              <a:spcBef>
                <a:spcPts val="400"/>
              </a:spcBef>
              <a:defRPr sz="1200">
                <a:solidFill>
                  <a:srgbClr val="1E293B"/>
                </a:solidFill>
              </a:defRPr>
            </a:pPr>
            <a:r>
              <a:t>• Node.js (v20+): Asynchronous, event-driven JavaScript runtime</a:t>
            </a:r>
          </a:p>
          <a:p>
            <a:pPr>
              <a:spcBef>
                <a:spcPts val="400"/>
              </a:spcBef>
              <a:defRPr sz="1200">
                <a:solidFill>
                  <a:srgbClr val="1E293B"/>
                </a:solidFill>
              </a:defRPr>
            </a:pPr>
            <a:r>
              <a:t>• Express.js (v5): Fast, robust RESTful routing and middleware stack</a:t>
            </a:r>
          </a:p>
          <a:p>
            <a:pPr>
              <a:spcBef>
                <a:spcPts val="400"/>
              </a:spcBef>
              <a:defRPr sz="1200">
                <a:solidFill>
                  <a:srgbClr val="1E293B"/>
                </a:solidFill>
              </a:defRPr>
            </a:pPr>
            <a:r>
              <a:t>• Joi Validation: Server-side schema validation for request payloads</a:t>
            </a:r>
          </a:p>
          <a:p>
            <a:pPr>
              <a:spcBef>
                <a:spcPts val="400"/>
              </a:spcBef>
              <a:defRPr sz="1200">
                <a:solidFill>
                  <a:srgbClr val="1E293B"/>
                </a:solidFill>
              </a:defRPr>
            </a:pPr>
            <a:r>
              <a:t>• Passport.js: Authentication middleware with PBKDF2 salt hashing</a:t>
            </a:r>
          </a:p>
        </p:txBody>
      </p:sp>
      <p:sp>
        <p:nvSpPr>
          <p:cNvPr id="9" name="Rounded Rectangle 8"/>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51960"/>
            <a:ext cx="4663440" cy="1920240"/>
          </a:xfrm>
          <a:prstGeom prst="rect">
            <a:avLst/>
          </a:prstGeom>
          <a:noFill/>
        </p:spPr>
        <p:txBody>
          <a:bodyPr wrap="square">
            <a:spAutoFit/>
          </a:bodyPr>
          <a:lstStyle/>
          <a:p>
            <a:pPr>
              <a:defRPr sz="1700" b="1">
                <a:solidFill>
                  <a:srgbClr val="FE424D"/>
                </a:solidFill>
              </a:defRPr>
            </a:pPr>
            <a:r>
              <a:t>Database &amp; Storage</a:t>
            </a:r>
          </a:p>
          <a:p>
            <a:pPr>
              <a:spcBef>
                <a:spcPts val="400"/>
              </a:spcBef>
              <a:defRPr sz="1200">
                <a:solidFill>
                  <a:srgbClr val="1E293B"/>
                </a:solidFill>
              </a:defRPr>
            </a:pPr>
            <a:r>
              <a:t>• MongoDB Atlas: Scalable cloud NoSQL database with high availability</a:t>
            </a:r>
          </a:p>
          <a:p>
            <a:pPr>
              <a:spcBef>
                <a:spcPts val="400"/>
              </a:spcBef>
              <a:defRPr sz="1200">
                <a:solidFill>
                  <a:srgbClr val="1E293B"/>
                </a:solidFill>
              </a:defRPr>
            </a:pPr>
            <a:r>
              <a:t>• Mongoose ODM: Schema definitions, type casting, validation &amp; hooks</a:t>
            </a:r>
          </a:p>
          <a:p>
            <a:pPr>
              <a:spcBef>
                <a:spcPts val="400"/>
              </a:spcBef>
              <a:defRPr sz="1200">
                <a:solidFill>
                  <a:srgbClr val="1E293B"/>
                </a:solidFill>
              </a:defRPr>
            </a:pPr>
            <a:r>
              <a:t>• Connect-Mongo: Production session persistence across serverless invocations</a:t>
            </a:r>
          </a:p>
          <a:p>
            <a:pPr>
              <a:spcBef>
                <a:spcPts val="400"/>
              </a:spcBef>
              <a:defRPr sz="1200">
                <a:solidFill>
                  <a:srgbClr val="1E293B"/>
                </a:solidFill>
              </a:defRPr>
            </a:pPr>
            <a:r>
              <a:t>• Cloudinary SDK: Cloud-based asset storage, transformations &amp; CDN delivery</a:t>
            </a:r>
          </a:p>
        </p:txBody>
      </p:sp>
      <p:sp>
        <p:nvSpPr>
          <p:cNvPr id="11" name="Rounded Rectangle 10"/>
          <p:cNvSpPr/>
          <p:nvPr/>
        </p:nvSpPr>
        <p:spPr>
          <a:xfrm>
            <a:off x="62179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51960"/>
            <a:ext cx="4663440" cy="1920240"/>
          </a:xfrm>
          <a:prstGeom prst="rect">
            <a:avLst/>
          </a:prstGeom>
          <a:noFill/>
        </p:spPr>
        <p:txBody>
          <a:bodyPr wrap="square">
            <a:spAutoFit/>
          </a:bodyPr>
          <a:lstStyle/>
          <a:p>
            <a:pPr>
              <a:defRPr sz="1700" b="1">
                <a:solidFill>
                  <a:srgbClr val="0EA5E9"/>
                </a:solidFill>
              </a:defRPr>
            </a:pPr>
            <a:r>
              <a:t>APIs &amp; Deployment</a:t>
            </a:r>
          </a:p>
          <a:p>
            <a:pPr>
              <a:spcBef>
                <a:spcPts val="400"/>
              </a:spcBef>
              <a:defRPr sz="1200">
                <a:solidFill>
                  <a:srgbClr val="1E293B"/>
                </a:solidFill>
              </a:defRPr>
            </a:pPr>
            <a:r>
              <a:t>• Mapbox GL JS: Interactive web mapping and vector tile rendering</a:t>
            </a:r>
          </a:p>
          <a:p>
            <a:pPr>
              <a:spcBef>
                <a:spcPts val="400"/>
              </a:spcBef>
              <a:defRPr sz="1200">
                <a:solidFill>
                  <a:srgbClr val="1E293B"/>
                </a:solidFill>
              </a:defRPr>
            </a:pPr>
            <a:r>
              <a:t>• Mapbox Geocoding: Automated forward geocoding from text to coordinates</a:t>
            </a:r>
          </a:p>
          <a:p>
            <a:pPr>
              <a:spcBef>
                <a:spcPts val="400"/>
              </a:spcBef>
              <a:defRPr sz="1200">
                <a:solidFill>
                  <a:srgbClr val="1E293B"/>
                </a:solidFill>
              </a:defRPr>
            </a:pPr>
            <a:r>
              <a:t>• Vercel Serverless: Zero-config AWS Lambda-powered global edge deployment</a:t>
            </a:r>
          </a:p>
          <a:p>
            <a:pPr>
              <a:spcBef>
                <a:spcPts val="400"/>
              </a:spcBef>
              <a:defRPr sz="1200">
                <a:solidFill>
                  <a:srgbClr val="1E293B"/>
                </a:solidFill>
              </a:defRPr>
            </a:pPr>
            <a:r>
              <a:t>• Git &amp; GitHub: Source code version control and CI/CD automated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Core Features &amp; Functional Modules</a:t>
            </a:r>
          </a:p>
        </p:txBody>
      </p:sp>
      <p:sp>
        <p:nvSpPr>
          <p:cNvPr id="5" name="Rounded Rectangle 4"/>
          <p:cNvSpPr/>
          <p:nvPr/>
        </p:nvSpPr>
        <p:spPr>
          <a:xfrm>
            <a:off x="731520" y="16459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54880" cy="1188720"/>
          </a:xfrm>
          <a:prstGeom prst="rect">
            <a:avLst/>
          </a:prstGeom>
          <a:noFill/>
        </p:spPr>
        <p:txBody>
          <a:bodyPr wrap="square">
            <a:spAutoFit/>
          </a:bodyPr>
          <a:lstStyle/>
          <a:p>
            <a:pPr>
              <a:defRPr sz="1500" b="1">
                <a:solidFill>
                  <a:srgbClr val="0F172A"/>
                </a:solidFill>
              </a:defRPr>
            </a:pPr>
            <a:r>
              <a:t>🏠 Full CRUD for Listings</a:t>
            </a:r>
          </a:p>
          <a:p>
            <a:pPr>
              <a:spcBef>
                <a:spcPts val="400"/>
              </a:spcBef>
              <a:defRPr sz="1200">
                <a:solidFill>
                  <a:srgbClr val="1E293B"/>
                </a:solidFill>
              </a:defRPr>
            </a:pPr>
            <a:r>
              <a:t>Hosts can create, read, update, and delete properties. Every listing features high-res photos, formatted pricing in INR, detailed descriptions, and city/country locations.</a:t>
            </a:r>
          </a:p>
        </p:txBody>
      </p:sp>
      <p:sp>
        <p:nvSpPr>
          <p:cNvPr id="7" name="Rounded Rectangle 6"/>
          <p:cNvSpPr/>
          <p:nvPr/>
        </p:nvSpPr>
        <p:spPr>
          <a:xfrm>
            <a:off x="6217920" y="16459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83080"/>
            <a:ext cx="4754880" cy="1188720"/>
          </a:xfrm>
          <a:prstGeom prst="rect">
            <a:avLst/>
          </a:prstGeom>
          <a:noFill/>
        </p:spPr>
        <p:txBody>
          <a:bodyPr wrap="square">
            <a:spAutoFit/>
          </a:bodyPr>
          <a:lstStyle/>
          <a:p>
            <a:pPr>
              <a:defRPr sz="1500" b="1">
                <a:solidFill>
                  <a:srgbClr val="0F172A"/>
                </a:solidFill>
              </a:defRPr>
            </a:pPr>
            <a:r>
              <a:t>🗺️ Automated Geocoding &amp; Maps</a:t>
            </a:r>
          </a:p>
          <a:p>
            <a:pPr>
              <a:spcBef>
                <a:spcPts val="400"/>
              </a:spcBef>
              <a:defRPr sz="1200">
                <a:solidFill>
                  <a:srgbClr val="1E293B"/>
                </a:solidFill>
              </a:defRPr>
            </a:pPr>
            <a:r>
              <a:t>When a host types an address, Mapbox forward-geocodes it into exact [longitude, latitude] coordinates, plotting an interactive zoomable pin on the listing detail page.</a:t>
            </a:r>
          </a:p>
        </p:txBody>
      </p:sp>
      <p:sp>
        <p:nvSpPr>
          <p:cNvPr id="9" name="Rounded Rectangle 8"/>
          <p:cNvSpPr/>
          <p:nvPr/>
        </p:nvSpPr>
        <p:spPr>
          <a:xfrm>
            <a:off x="731520" y="32461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383280"/>
            <a:ext cx="4754880" cy="1188720"/>
          </a:xfrm>
          <a:prstGeom prst="rect">
            <a:avLst/>
          </a:prstGeom>
          <a:noFill/>
        </p:spPr>
        <p:txBody>
          <a:bodyPr wrap="square">
            <a:spAutoFit/>
          </a:bodyPr>
          <a:lstStyle/>
          <a:p>
            <a:pPr>
              <a:defRPr sz="1500" b="1">
                <a:solidFill>
                  <a:srgbClr val="0F172A"/>
                </a:solidFill>
              </a:defRPr>
            </a:pPr>
            <a:r>
              <a:t>☁️ Cloud Multi-part Image Uploads</a:t>
            </a:r>
          </a:p>
          <a:p>
            <a:pPr>
              <a:spcBef>
                <a:spcPts val="400"/>
              </a:spcBef>
              <a:defRPr sz="1200">
                <a:solidFill>
                  <a:srgbClr val="1E293B"/>
                </a:solidFill>
              </a:defRPr>
            </a:pPr>
            <a:r>
              <a:t>Powered by Multer and Cloudinary. Images uploaded by users are stored securely in the cloud, generating secure CDN URLs for lightning-fast global delivery.</a:t>
            </a:r>
          </a:p>
        </p:txBody>
      </p:sp>
      <p:sp>
        <p:nvSpPr>
          <p:cNvPr id="11" name="Rounded Rectangle 10"/>
          <p:cNvSpPr/>
          <p:nvPr/>
        </p:nvSpPr>
        <p:spPr>
          <a:xfrm>
            <a:off x="6217920" y="32461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383280"/>
            <a:ext cx="4754880" cy="1188720"/>
          </a:xfrm>
          <a:prstGeom prst="rect">
            <a:avLst/>
          </a:prstGeom>
          <a:noFill/>
        </p:spPr>
        <p:txBody>
          <a:bodyPr wrap="square">
            <a:spAutoFit/>
          </a:bodyPr>
          <a:lstStyle/>
          <a:p>
            <a:pPr>
              <a:defRPr sz="1500" b="1">
                <a:solidFill>
                  <a:srgbClr val="0F172A"/>
                </a:solidFill>
              </a:defRPr>
            </a:pPr>
            <a:r>
              <a:t>⭐ Review System &amp; Star Ratings</a:t>
            </a:r>
          </a:p>
          <a:p>
            <a:pPr>
              <a:spcBef>
                <a:spcPts val="400"/>
              </a:spcBef>
              <a:defRPr sz="1200">
                <a:solidFill>
                  <a:srgbClr val="1E293B"/>
                </a:solidFill>
              </a:defRPr>
            </a:pPr>
            <a:r>
              <a:t>Verified users can post reviews with 1-to-5 star ratings and feedback. Review authors retain permission to delete their own reviews.</a:t>
            </a:r>
          </a:p>
        </p:txBody>
      </p:sp>
      <p:sp>
        <p:nvSpPr>
          <p:cNvPr id="13" name="Rounded Rectangle 12"/>
          <p:cNvSpPr/>
          <p:nvPr/>
        </p:nvSpPr>
        <p:spPr>
          <a:xfrm>
            <a:off x="731520" y="48463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983480"/>
            <a:ext cx="4754880" cy="1188720"/>
          </a:xfrm>
          <a:prstGeom prst="rect">
            <a:avLst/>
          </a:prstGeom>
          <a:noFill/>
        </p:spPr>
        <p:txBody>
          <a:bodyPr wrap="square">
            <a:spAutoFit/>
          </a:bodyPr>
          <a:lstStyle/>
          <a:p>
            <a:pPr>
              <a:defRPr sz="1500" b="1">
                <a:solidFill>
                  <a:srgbClr val="0F172A"/>
                </a:solidFill>
              </a:defRPr>
            </a:pPr>
            <a:r>
              <a:t>🏷️ Category Filtering UI</a:t>
            </a:r>
          </a:p>
          <a:p>
            <a:pPr>
              <a:spcBef>
                <a:spcPts val="400"/>
              </a:spcBef>
              <a:defRPr sz="1200">
                <a:solidFill>
                  <a:srgbClr val="1E293B"/>
                </a:solidFill>
              </a:defRPr>
            </a:pPr>
            <a:r>
              <a:t>An Airbnb-style horizontal filter bar supporting categories like Trending, Rooms, Iconic Cities, Mountains, Castles, Pools, Camping, Beachfront, and Arctic.</a:t>
            </a:r>
          </a:p>
        </p:txBody>
      </p:sp>
      <p:sp>
        <p:nvSpPr>
          <p:cNvPr id="15" name="Rounded Rectangle 14"/>
          <p:cNvSpPr/>
          <p:nvPr/>
        </p:nvSpPr>
        <p:spPr>
          <a:xfrm>
            <a:off x="6217920" y="4846320"/>
            <a:ext cx="521208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983480"/>
            <a:ext cx="4754880" cy="1188720"/>
          </a:xfrm>
          <a:prstGeom prst="rect">
            <a:avLst/>
          </a:prstGeom>
          <a:noFill/>
        </p:spPr>
        <p:txBody>
          <a:bodyPr wrap="square">
            <a:spAutoFit/>
          </a:bodyPr>
          <a:lstStyle/>
          <a:p>
            <a:pPr>
              <a:defRPr sz="1500" b="1">
                <a:solidFill>
                  <a:srgbClr val="0F172A"/>
                </a:solidFill>
              </a:defRPr>
            </a:pPr>
            <a:r>
              <a:t>⚡ Live Tax Toggle Switch</a:t>
            </a:r>
          </a:p>
          <a:p>
            <a:pPr>
              <a:spcBef>
                <a:spcPts val="400"/>
              </a:spcBef>
              <a:defRPr sz="1200">
                <a:solidFill>
                  <a:srgbClr val="1E293B"/>
                </a:solidFill>
              </a:defRPr>
            </a:pPr>
            <a:r>
              <a:t>Interactive client-side switch that instantly toggles display prices between base rates and all-inclusive total rates including 18% GST.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Security Architecture, Authentication &amp; Permissions</a:t>
            </a:r>
          </a:p>
        </p:txBody>
      </p:sp>
      <p:sp>
        <p:nvSpPr>
          <p:cNvPr id="5" name="Rounded Rectangle 4"/>
          <p:cNvSpPr/>
          <p:nvPr/>
        </p:nvSpPr>
        <p:spPr>
          <a:xfrm>
            <a:off x="7315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1920240"/>
          </a:xfrm>
          <a:prstGeom prst="rect">
            <a:avLst/>
          </a:prstGeom>
          <a:noFill/>
        </p:spPr>
        <p:txBody>
          <a:bodyPr wrap="square">
            <a:spAutoFit/>
          </a:bodyPr>
          <a:lstStyle/>
          <a:p>
            <a:pPr>
              <a:defRPr sz="1600" b="1">
                <a:solidFill>
                  <a:srgbClr val="FE424D"/>
                </a:solidFill>
              </a:defRPr>
            </a:pPr>
            <a:r>
              <a:t>🔐 Authentication (Passport.js)</a:t>
            </a:r>
          </a:p>
          <a:p>
            <a:pPr>
              <a:spcBef>
                <a:spcPts val="400"/>
              </a:spcBef>
              <a:defRPr sz="1200">
                <a:solidFill>
                  <a:srgbClr val="1E293B"/>
                </a:solidFill>
              </a:defRPr>
            </a:pPr>
            <a:r>
              <a:t>• Local Strategy integrated with Passport-Local-Mongoose.</a:t>
            </a:r>
          </a:p>
          <a:p>
            <a:pPr>
              <a:spcBef>
                <a:spcPts val="400"/>
              </a:spcBef>
              <a:defRPr sz="1200">
                <a:solidFill>
                  <a:srgbClr val="1E293B"/>
                </a:solidFill>
              </a:defRPr>
            </a:pPr>
            <a:r>
              <a:t>• PBKDF2 cryptographic hashing with unique random salt per user.</a:t>
            </a:r>
          </a:p>
          <a:p>
            <a:pPr>
              <a:spcBef>
                <a:spcPts val="400"/>
              </a:spcBef>
              <a:defRPr sz="1200">
                <a:solidFill>
                  <a:srgbClr val="1E293B"/>
                </a:solidFill>
              </a:defRPr>
            </a:pPr>
            <a:r>
              <a:t>• Password strings are never stored in plaintext.</a:t>
            </a:r>
          </a:p>
          <a:p>
            <a:pPr>
              <a:spcBef>
                <a:spcPts val="400"/>
              </a:spcBef>
              <a:defRPr sz="1200">
                <a:solidFill>
                  <a:srgbClr val="1E293B"/>
                </a:solidFill>
              </a:defRPr>
            </a:pPr>
            <a:r>
              <a:t>• Flash notifications for successful logins, logouts, and invalid credentials.</a:t>
            </a:r>
          </a:p>
        </p:txBody>
      </p:sp>
      <p:sp>
        <p:nvSpPr>
          <p:cNvPr id="7" name="Rounded Rectangle 6"/>
          <p:cNvSpPr/>
          <p:nvPr/>
        </p:nvSpPr>
        <p:spPr>
          <a:xfrm>
            <a:off x="62179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1920240"/>
          </a:xfrm>
          <a:prstGeom prst="rect">
            <a:avLst/>
          </a:prstGeom>
          <a:noFill/>
        </p:spPr>
        <p:txBody>
          <a:bodyPr wrap="square">
            <a:spAutoFit/>
          </a:bodyPr>
          <a:lstStyle/>
          <a:p>
            <a:pPr>
              <a:defRPr sz="1600" b="1">
                <a:solidFill>
                  <a:srgbClr val="0EA5E9"/>
                </a:solidFill>
              </a:defRPr>
            </a:pPr>
            <a:r>
              <a:t>🛡️ Granular Authorization (RBAC)</a:t>
            </a:r>
          </a:p>
          <a:p>
            <a:pPr>
              <a:spcBef>
                <a:spcPts val="400"/>
              </a:spcBef>
              <a:defRPr sz="1200">
                <a:solidFill>
                  <a:srgbClr val="1E293B"/>
                </a:solidFill>
              </a:defRPr>
            </a:pPr>
            <a:r>
              <a:t>• isLoggedIn Middleware: Guards private routes (/new, /edit, reviews).</a:t>
            </a:r>
          </a:p>
          <a:p>
            <a:pPr>
              <a:spcBef>
                <a:spcPts val="400"/>
              </a:spcBef>
              <a:defRPr sz="1200">
                <a:solidFill>
                  <a:srgbClr val="1E293B"/>
                </a:solidFill>
              </a:defRPr>
            </a:pPr>
            <a:r>
              <a:t>• isOwner Middleware: Ensures only the creator can edit or delete a listing.</a:t>
            </a:r>
          </a:p>
          <a:p>
            <a:pPr>
              <a:spcBef>
                <a:spcPts val="400"/>
              </a:spcBef>
              <a:defRPr sz="1200">
                <a:solidFill>
                  <a:srgbClr val="1E293B"/>
                </a:solidFill>
              </a:defRPr>
            </a:pPr>
            <a:r>
              <a:t>• isReviewAuthor Middleware: Prevents users from deleting reviews posted by others.</a:t>
            </a:r>
          </a:p>
          <a:p>
            <a:pPr>
              <a:spcBef>
                <a:spcPts val="400"/>
              </a:spcBef>
              <a:defRPr sz="1200">
                <a:solidFill>
                  <a:srgbClr val="1E293B"/>
                </a:solidFill>
              </a:defRPr>
            </a:pPr>
            <a:r>
              <a:t>• UI elements (Edit/Delete buttons) conditionally render based on currUser.</a:t>
            </a:r>
          </a:p>
        </p:txBody>
      </p:sp>
      <p:sp>
        <p:nvSpPr>
          <p:cNvPr id="9" name="Rounded Rectangle 8"/>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51960"/>
            <a:ext cx="4663440" cy="1920240"/>
          </a:xfrm>
          <a:prstGeom prst="rect">
            <a:avLst/>
          </a:prstGeom>
          <a:noFill/>
        </p:spPr>
        <p:txBody>
          <a:bodyPr wrap="square">
            <a:spAutoFit/>
          </a:bodyPr>
          <a:lstStyle/>
          <a:p>
            <a:pPr>
              <a:defRPr sz="1600" b="1">
                <a:solidFill>
                  <a:srgbClr val="FE424D"/>
                </a:solidFill>
              </a:defRPr>
            </a:pPr>
            <a:r>
              <a:t>🔍 Robust Input Validation (Joi)</a:t>
            </a:r>
          </a:p>
          <a:p>
            <a:pPr>
              <a:spcBef>
                <a:spcPts val="400"/>
              </a:spcBef>
              <a:defRPr sz="1200">
                <a:solidFill>
                  <a:srgbClr val="1E293B"/>
                </a:solidFill>
              </a:defRPr>
            </a:pPr>
            <a:r>
              <a:t>• Server-side schema validation defends against malicious payloads or Postman injection.</a:t>
            </a:r>
          </a:p>
          <a:p>
            <a:pPr>
              <a:spcBef>
                <a:spcPts val="400"/>
              </a:spcBef>
              <a:defRPr sz="1200">
                <a:solidFill>
                  <a:srgbClr val="1E293B"/>
                </a:solidFill>
              </a:defRPr>
            </a:pPr>
            <a:r>
              <a:t>• ListingSchema validates required fields, numeric price bounds, and coordinates.</a:t>
            </a:r>
          </a:p>
          <a:p>
            <a:pPr>
              <a:spcBef>
                <a:spcPts val="400"/>
              </a:spcBef>
              <a:defRPr sz="1200">
                <a:solidFill>
                  <a:srgbClr val="1E293B"/>
                </a:solidFill>
              </a:defRPr>
            </a:pPr>
            <a:r>
              <a:t>• ReviewSchema enforces 1-5 rating range and non-empty comment strings.</a:t>
            </a:r>
          </a:p>
          <a:p>
            <a:pPr>
              <a:spcBef>
                <a:spcPts val="400"/>
              </a:spcBef>
              <a:defRPr sz="1200">
                <a:solidFill>
                  <a:srgbClr val="1E293B"/>
                </a:solidFill>
              </a:defRPr>
            </a:pPr>
            <a:r>
              <a:t>• Bootstrap custom form validation delivers immediate visual client feedback.</a:t>
            </a:r>
          </a:p>
        </p:txBody>
      </p:sp>
      <p:sp>
        <p:nvSpPr>
          <p:cNvPr id="11" name="Rounded Rectangle 10"/>
          <p:cNvSpPr/>
          <p:nvPr/>
        </p:nvSpPr>
        <p:spPr>
          <a:xfrm>
            <a:off x="62179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51960"/>
            <a:ext cx="4663440" cy="1920240"/>
          </a:xfrm>
          <a:prstGeom prst="rect">
            <a:avLst/>
          </a:prstGeom>
          <a:noFill/>
        </p:spPr>
        <p:txBody>
          <a:bodyPr wrap="square">
            <a:spAutoFit/>
          </a:bodyPr>
          <a:lstStyle/>
          <a:p>
            <a:pPr>
              <a:defRPr sz="1600" b="1">
                <a:solidFill>
                  <a:srgbClr val="0EA5E9"/>
                </a:solidFill>
              </a:defRPr>
            </a:pPr>
            <a:r>
              <a:t>🍪 Session Security &amp; Data Integrity</a:t>
            </a:r>
          </a:p>
          <a:p>
            <a:pPr>
              <a:spcBef>
                <a:spcPts val="400"/>
              </a:spcBef>
              <a:defRPr sz="1200">
                <a:solidFill>
                  <a:srgbClr val="1E293B"/>
                </a:solidFill>
              </a:defRPr>
            </a:pPr>
            <a:r>
              <a:t>• connect-mongo session store isolates session data in MongoDB Atlas.</a:t>
            </a:r>
          </a:p>
          <a:p>
            <a:pPr>
              <a:spcBef>
                <a:spcPts val="400"/>
              </a:spcBef>
              <a:defRPr sz="1200">
                <a:solidFill>
                  <a:srgbClr val="1E293B"/>
                </a:solidFill>
              </a:defRPr>
            </a:pPr>
            <a:r>
              <a:t>• HTTP-Only cookie flags mitigate Cross-Site Scripting (XSS) token theft.</a:t>
            </a:r>
          </a:p>
          <a:p>
            <a:pPr>
              <a:spcBef>
                <a:spcPts val="400"/>
              </a:spcBef>
              <a:defRPr sz="1200">
                <a:solidFill>
                  <a:srgbClr val="1E293B"/>
                </a:solidFill>
              </a:defRPr>
            </a:pPr>
            <a:r>
              <a:t>• Mongoose Cascade Delete Hook removes all associated reviews when a listing is deleted.</a:t>
            </a:r>
          </a:p>
          <a:p>
            <a:pPr>
              <a:spcBef>
                <a:spcPts val="400"/>
              </a:spcBef>
              <a:defRPr sz="1200">
                <a:solidFill>
                  <a:srgbClr val="1E293B"/>
                </a:solidFill>
              </a:defRPr>
            </a:pPr>
            <a:r>
              <a:t>• Custom ExpressError class normalizes error status codes and friendly error pages.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Database Modeling &amp; Mongoose Schemas</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48640"/>
          </a:xfrm>
          <a:prstGeom prst="rect">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3383280" cy="457200"/>
          </a:xfrm>
          <a:prstGeom prst="rect">
            <a:avLst/>
          </a:prstGeom>
          <a:noFill/>
        </p:spPr>
        <p:txBody>
          <a:bodyPr wrap="none">
            <a:spAutoFit/>
          </a:bodyPr>
          <a:lstStyle/>
          <a:p>
            <a:pPr algn="ctr">
              <a:defRPr sz="1600" b="1">
                <a:solidFill>
                  <a:srgbClr val="FFFFFF"/>
                </a:solidFill>
              </a:defRPr>
            </a:pPr>
            <a:r>
              <a:t>Listing Schema</a:t>
            </a:r>
          </a:p>
        </p:txBody>
      </p:sp>
      <p:sp>
        <p:nvSpPr>
          <p:cNvPr id="8" name="TextBox 7"/>
          <p:cNvSpPr txBox="1"/>
          <p:nvPr/>
        </p:nvSpPr>
        <p:spPr>
          <a:xfrm>
            <a:off x="960120" y="2331720"/>
            <a:ext cx="2926080" cy="3749039"/>
          </a:xfrm>
          <a:prstGeom prst="rect">
            <a:avLst/>
          </a:prstGeom>
          <a:noFill/>
        </p:spPr>
        <p:txBody>
          <a:bodyPr wrap="square">
            <a:spAutoFit/>
          </a:bodyPr>
          <a:lstStyle/>
          <a:p>
            <a:pPr>
              <a:defRPr sz="1300" b="1">
                <a:solidFill>
                  <a:srgbClr val="0F172A"/>
                </a:solidFill>
              </a:defRPr>
            </a:pPr>
            <a:r>
              <a:t>• title</a:t>
            </a:r>
          </a:p>
          <a:p>
            <a:pPr>
              <a:spcBef>
                <a:spcPts val="200"/>
              </a:spcBef>
              <a:defRPr sz="1100">
                <a:solidFill>
                  <a:srgbClr val="94A3B8"/>
                </a:solidFill>
              </a:defRPr>
            </a:pPr>
            <a:r>
              <a:t>  └ String (Required)</a:t>
            </a:r>
          </a:p>
          <a:p>
            <a:pPr>
              <a:defRPr sz="1300" b="1">
                <a:solidFill>
                  <a:srgbClr val="0F172A"/>
                </a:solidFill>
              </a:defRPr>
            </a:pPr>
            <a:r>
              <a:t>• description</a:t>
            </a:r>
          </a:p>
          <a:p>
            <a:pPr>
              <a:spcBef>
                <a:spcPts val="200"/>
              </a:spcBef>
              <a:defRPr sz="1100">
                <a:solidFill>
                  <a:srgbClr val="94A3B8"/>
                </a:solidFill>
              </a:defRPr>
            </a:pPr>
            <a:r>
              <a:t>  └ String</a:t>
            </a:r>
          </a:p>
          <a:p>
            <a:pPr>
              <a:defRPr sz="1300" b="1">
                <a:solidFill>
                  <a:srgbClr val="0F172A"/>
                </a:solidFill>
              </a:defRPr>
            </a:pPr>
            <a:r>
              <a:t>• image</a:t>
            </a:r>
          </a:p>
          <a:p>
            <a:pPr>
              <a:spcBef>
                <a:spcPts val="200"/>
              </a:spcBef>
              <a:defRPr sz="1100">
                <a:solidFill>
                  <a:srgbClr val="94A3B8"/>
                </a:solidFill>
              </a:defRPr>
            </a:pPr>
            <a:r>
              <a:t>  └ { url: String, filename: String }</a:t>
            </a:r>
          </a:p>
          <a:p>
            <a:pPr>
              <a:defRPr sz="1300" b="1">
                <a:solidFill>
                  <a:srgbClr val="0F172A"/>
                </a:solidFill>
              </a:defRPr>
            </a:pPr>
            <a:r>
              <a:t>• price</a:t>
            </a:r>
          </a:p>
          <a:p>
            <a:pPr>
              <a:spcBef>
                <a:spcPts val="200"/>
              </a:spcBef>
              <a:defRPr sz="1100">
                <a:solidFill>
                  <a:srgbClr val="94A3B8"/>
                </a:solidFill>
              </a:defRPr>
            </a:pPr>
            <a:r>
              <a:t>  └ Number (with default &amp; validation)</a:t>
            </a:r>
          </a:p>
          <a:p>
            <a:pPr>
              <a:defRPr sz="1300" b="1">
                <a:solidFill>
                  <a:srgbClr val="0F172A"/>
                </a:solidFill>
              </a:defRPr>
            </a:pPr>
            <a:r>
              <a:t>• location &amp; country</a:t>
            </a:r>
          </a:p>
          <a:p>
            <a:pPr>
              <a:spcBef>
                <a:spcPts val="200"/>
              </a:spcBef>
              <a:defRPr sz="1100">
                <a:solidFill>
                  <a:srgbClr val="94A3B8"/>
                </a:solidFill>
              </a:defRPr>
            </a:pPr>
            <a:r>
              <a:t>  └ String (e.g. Goa, India)</a:t>
            </a:r>
          </a:p>
          <a:p>
            <a:pPr>
              <a:defRPr sz="1300" b="1">
                <a:solidFill>
                  <a:srgbClr val="0F172A"/>
                </a:solidFill>
              </a:defRPr>
            </a:pPr>
            <a:r>
              <a:t>• geometry</a:t>
            </a:r>
          </a:p>
          <a:p>
            <a:pPr>
              <a:spcBef>
                <a:spcPts val="200"/>
              </a:spcBef>
              <a:defRPr sz="1100">
                <a:solidFill>
                  <a:srgbClr val="94A3B8"/>
                </a:solidFill>
              </a:defRPr>
            </a:pPr>
            <a:r>
              <a:t>  └ GeoJSON { type: 'Point', coordinates: [lng, lat] }</a:t>
            </a:r>
          </a:p>
          <a:p>
            <a:pPr>
              <a:defRPr sz="1300" b="1">
                <a:solidFill>
                  <a:srgbClr val="0F172A"/>
                </a:solidFill>
              </a:defRPr>
            </a:pPr>
            <a:r>
              <a:t>• reviews</a:t>
            </a:r>
          </a:p>
          <a:p>
            <a:pPr>
              <a:spcBef>
                <a:spcPts val="200"/>
              </a:spcBef>
              <a:defRPr sz="1100">
                <a:solidFill>
                  <a:srgbClr val="94A3B8"/>
                </a:solidFill>
              </a:defRPr>
            </a:pPr>
            <a:r>
              <a:t>  └ Array of ObjectId refs -&gt; Review model</a:t>
            </a:r>
          </a:p>
          <a:p>
            <a:pPr>
              <a:defRPr sz="1300" b="1">
                <a:solidFill>
                  <a:srgbClr val="0F172A"/>
                </a:solidFill>
              </a:defRPr>
            </a:pPr>
            <a:r>
              <a:t>• owner</a:t>
            </a:r>
          </a:p>
          <a:p>
            <a:pPr>
              <a:spcBef>
                <a:spcPts val="200"/>
              </a:spcBef>
              <a:defRPr sz="1100">
                <a:solidFill>
                  <a:srgbClr val="94A3B8"/>
                </a:solidFill>
              </a:defRPr>
            </a:pPr>
            <a:r>
              <a:t>  └ ObjectId ref -&gt; User model</a:t>
            </a:r>
          </a:p>
        </p:txBody>
      </p:sp>
      <p:sp>
        <p:nvSpPr>
          <p:cNvPr id="9" name="Rounded Rectangle 8"/>
          <p:cNvSpPr/>
          <p:nvPr/>
        </p:nvSpPr>
        <p:spPr>
          <a:xfrm>
            <a:off x="43891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645920"/>
            <a:ext cx="3383280" cy="5486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91640"/>
            <a:ext cx="3383280" cy="457200"/>
          </a:xfrm>
          <a:prstGeom prst="rect">
            <a:avLst/>
          </a:prstGeom>
          <a:noFill/>
        </p:spPr>
        <p:txBody>
          <a:bodyPr wrap="none">
            <a:spAutoFit/>
          </a:bodyPr>
          <a:lstStyle/>
          <a:p>
            <a:pPr algn="ctr">
              <a:defRPr sz="1600" b="1">
                <a:solidFill>
                  <a:srgbClr val="FFFFFF"/>
                </a:solidFill>
              </a:defRPr>
            </a:pPr>
            <a:r>
              <a:t>User Schema</a:t>
            </a:r>
          </a:p>
        </p:txBody>
      </p:sp>
      <p:sp>
        <p:nvSpPr>
          <p:cNvPr id="12" name="TextBox 11"/>
          <p:cNvSpPr txBox="1"/>
          <p:nvPr/>
        </p:nvSpPr>
        <p:spPr>
          <a:xfrm>
            <a:off x="4617720" y="2331720"/>
            <a:ext cx="2926080" cy="3749039"/>
          </a:xfrm>
          <a:prstGeom prst="rect">
            <a:avLst/>
          </a:prstGeom>
          <a:noFill/>
        </p:spPr>
        <p:txBody>
          <a:bodyPr wrap="square">
            <a:spAutoFit/>
          </a:bodyPr>
          <a:lstStyle/>
          <a:p>
            <a:pPr>
              <a:defRPr sz="1300" b="1">
                <a:solidFill>
                  <a:srgbClr val="0F172A"/>
                </a:solidFill>
              </a:defRPr>
            </a:pPr>
            <a:r>
              <a:t>• email</a:t>
            </a:r>
          </a:p>
          <a:p>
            <a:pPr>
              <a:spcBef>
                <a:spcPts val="200"/>
              </a:spcBef>
              <a:defRPr sz="1100">
                <a:solidFill>
                  <a:srgbClr val="94A3B8"/>
                </a:solidFill>
              </a:defRPr>
            </a:pPr>
            <a:r>
              <a:t>  └ String (Required, Unique)</a:t>
            </a:r>
          </a:p>
          <a:p>
            <a:pPr>
              <a:defRPr sz="1300" b="1">
                <a:solidFill>
                  <a:srgbClr val="0F172A"/>
                </a:solidFill>
              </a:defRPr>
            </a:pPr>
            <a:r>
              <a:t>• username</a:t>
            </a:r>
          </a:p>
          <a:p>
            <a:pPr>
              <a:spcBef>
                <a:spcPts val="200"/>
              </a:spcBef>
              <a:defRPr sz="1100">
                <a:solidFill>
                  <a:srgbClr val="94A3B8"/>
                </a:solidFill>
              </a:defRPr>
            </a:pPr>
            <a:r>
              <a:t>  └ String (Handled by passport-local-mongoose)</a:t>
            </a:r>
          </a:p>
          <a:p>
            <a:pPr>
              <a:defRPr sz="1300" b="1">
                <a:solidFill>
                  <a:srgbClr val="0F172A"/>
                </a:solidFill>
              </a:defRPr>
            </a:pPr>
            <a:r>
              <a:t>• hash &amp; salt</a:t>
            </a:r>
          </a:p>
          <a:p>
            <a:pPr>
              <a:spcBef>
                <a:spcPts val="200"/>
              </a:spcBef>
              <a:defRPr sz="1100">
                <a:solidFill>
                  <a:srgbClr val="94A3B8"/>
                </a:solidFill>
              </a:defRPr>
            </a:pPr>
            <a:r>
              <a:t>  └ Binary cryptographic hashes</a:t>
            </a:r>
          </a:p>
          <a:p>
            <a:pPr>
              <a:defRPr sz="1300" b="1">
                <a:solidFill>
                  <a:srgbClr val="0F172A"/>
                </a:solidFill>
              </a:defRPr>
            </a:pPr>
            <a:r>
              <a:t>• createdAt</a:t>
            </a:r>
          </a:p>
          <a:p>
            <a:pPr>
              <a:spcBef>
                <a:spcPts val="200"/>
              </a:spcBef>
              <a:defRPr sz="1100">
                <a:solidFill>
                  <a:srgbClr val="94A3B8"/>
                </a:solidFill>
              </a:defRPr>
            </a:pPr>
            <a:r>
              <a:t>  └ Timestamp of registration</a:t>
            </a:r>
          </a:p>
        </p:txBody>
      </p:sp>
      <p:sp>
        <p:nvSpPr>
          <p:cNvPr id="13" name="Rounded Rectangle 12"/>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45920"/>
            <a:ext cx="3383280"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691640"/>
            <a:ext cx="3383280" cy="457200"/>
          </a:xfrm>
          <a:prstGeom prst="rect">
            <a:avLst/>
          </a:prstGeom>
          <a:noFill/>
        </p:spPr>
        <p:txBody>
          <a:bodyPr wrap="none">
            <a:spAutoFit/>
          </a:bodyPr>
          <a:lstStyle/>
          <a:p>
            <a:pPr algn="ctr">
              <a:defRPr sz="1600" b="1">
                <a:solidFill>
                  <a:srgbClr val="FFFFFF"/>
                </a:solidFill>
              </a:defRPr>
            </a:pPr>
            <a:r>
              <a:t>Review Schema</a:t>
            </a:r>
          </a:p>
        </p:txBody>
      </p:sp>
      <p:sp>
        <p:nvSpPr>
          <p:cNvPr id="16" name="TextBox 15"/>
          <p:cNvSpPr txBox="1"/>
          <p:nvPr/>
        </p:nvSpPr>
        <p:spPr>
          <a:xfrm>
            <a:off x="8275320" y="2331720"/>
            <a:ext cx="2926080" cy="3749039"/>
          </a:xfrm>
          <a:prstGeom prst="rect">
            <a:avLst/>
          </a:prstGeom>
          <a:noFill/>
        </p:spPr>
        <p:txBody>
          <a:bodyPr wrap="square">
            <a:spAutoFit/>
          </a:bodyPr>
          <a:lstStyle/>
          <a:p>
            <a:pPr>
              <a:defRPr sz="1300" b="1">
                <a:solidFill>
                  <a:srgbClr val="0F172A"/>
                </a:solidFill>
              </a:defRPr>
            </a:pPr>
            <a:r>
              <a:t>• comment</a:t>
            </a:r>
          </a:p>
          <a:p>
            <a:pPr>
              <a:spcBef>
                <a:spcPts val="200"/>
              </a:spcBef>
              <a:defRPr sz="1100">
                <a:solidFill>
                  <a:srgbClr val="94A3B8"/>
                </a:solidFill>
              </a:defRPr>
            </a:pPr>
            <a:r>
              <a:t>  └ String (Required)</a:t>
            </a:r>
          </a:p>
          <a:p>
            <a:pPr>
              <a:defRPr sz="1300" b="1">
                <a:solidFill>
                  <a:srgbClr val="0F172A"/>
                </a:solidFill>
              </a:defRPr>
            </a:pPr>
            <a:r>
              <a:t>• rating</a:t>
            </a:r>
          </a:p>
          <a:p>
            <a:pPr>
              <a:spcBef>
                <a:spcPts val="200"/>
              </a:spcBef>
              <a:defRPr sz="1100">
                <a:solidFill>
                  <a:srgbClr val="94A3B8"/>
                </a:solidFill>
              </a:defRPr>
            </a:pPr>
            <a:r>
              <a:t>  └ Number (Min: 1, Max: 5)</a:t>
            </a:r>
          </a:p>
          <a:p>
            <a:pPr>
              <a:defRPr sz="1300" b="1">
                <a:solidFill>
                  <a:srgbClr val="0F172A"/>
                </a:solidFill>
              </a:defRPr>
            </a:pPr>
            <a:r>
              <a:t>• createdAt</a:t>
            </a:r>
          </a:p>
          <a:p>
            <a:pPr>
              <a:spcBef>
                <a:spcPts val="200"/>
              </a:spcBef>
              <a:defRPr sz="1100">
                <a:solidFill>
                  <a:srgbClr val="94A3B8"/>
                </a:solidFill>
              </a:defRPr>
            </a:pPr>
            <a:r>
              <a:t>  └ Date (Defaults to Date.now)</a:t>
            </a:r>
          </a:p>
          <a:p>
            <a:pPr>
              <a:defRPr sz="1300" b="1">
                <a:solidFill>
                  <a:srgbClr val="0F172A"/>
                </a:solidFill>
              </a:defRPr>
            </a:pPr>
            <a:r>
              <a:t>• author</a:t>
            </a:r>
          </a:p>
          <a:p>
            <a:pPr>
              <a:spcBef>
                <a:spcPts val="200"/>
              </a:spcBef>
              <a:defRPr sz="1100">
                <a:solidFill>
                  <a:srgbClr val="94A3B8"/>
                </a:solidFill>
              </a:defRPr>
            </a:pPr>
            <a:r>
              <a:t>  └ ObjectId ref -&gt; User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Production Deployment &amp; Serverless Architecture</a:t>
            </a:r>
          </a:p>
        </p:txBody>
      </p:sp>
      <p:sp>
        <p:nvSpPr>
          <p:cNvPr id="5" name="Rounded Rectangle 4"/>
          <p:cNvSpPr/>
          <p:nvPr/>
        </p:nvSpPr>
        <p:spPr>
          <a:xfrm>
            <a:off x="731520" y="1645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1874520"/>
            <a:ext cx="548640" cy="548640"/>
          </a:xfrm>
          <a:prstGeom prst="ellipse">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01952"/>
            <a:ext cx="548640" cy="457200"/>
          </a:xfrm>
          <a:prstGeom prst="rect">
            <a:avLst/>
          </a:prstGeom>
          <a:noFill/>
        </p:spPr>
        <p:txBody>
          <a:bodyPr wrap="none">
            <a:spAutoFit/>
          </a:bodyPr>
          <a:lstStyle/>
          <a:p>
            <a:pPr algn="ctr">
              <a:defRPr sz="1600" b="1">
                <a:solidFill>
                  <a:srgbClr val="FFFFFF"/>
                </a:solidFill>
              </a:defRPr>
            </a:pPr>
            <a:r>
              <a:t>1</a:t>
            </a:r>
          </a:p>
        </p:txBody>
      </p:sp>
      <p:sp>
        <p:nvSpPr>
          <p:cNvPr id="8" name="TextBox 7"/>
          <p:cNvSpPr txBox="1"/>
          <p:nvPr/>
        </p:nvSpPr>
        <p:spPr>
          <a:xfrm>
            <a:off x="1737360" y="1755648"/>
            <a:ext cx="9418320" cy="777240"/>
          </a:xfrm>
          <a:prstGeom prst="rect">
            <a:avLst/>
          </a:prstGeom>
          <a:noFill/>
        </p:spPr>
        <p:txBody>
          <a:bodyPr wrap="square">
            <a:spAutoFit/>
          </a:bodyPr>
          <a:lstStyle/>
          <a:p>
            <a:pPr>
              <a:defRPr sz="1500" b="1">
                <a:solidFill>
                  <a:srgbClr val="0F172A"/>
                </a:solidFill>
              </a:defRPr>
            </a:pPr>
            <a:r>
              <a:t>⚡ Serverless Express on Vercel</a:t>
            </a:r>
          </a:p>
          <a:p>
            <a:pPr>
              <a:spcBef>
                <a:spcPts val="300"/>
              </a:spcBef>
              <a:defRPr sz="1200">
                <a:solidFill>
                  <a:srgbClr val="1E293B"/>
                </a:solidFill>
              </a:defRPr>
            </a:pPr>
            <a:r>
              <a:t>The Express monolith was adapted into an AWS Lambda Serverless Function via @vercel/node. Cold starts and routing are managed seamlessly through vercel.json.</a:t>
            </a:r>
          </a:p>
        </p:txBody>
      </p:sp>
      <p:sp>
        <p:nvSpPr>
          <p:cNvPr id="9" name="Rounded Rectangle 8"/>
          <p:cNvSpPr/>
          <p:nvPr/>
        </p:nvSpPr>
        <p:spPr>
          <a:xfrm>
            <a:off x="731520" y="2788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5840" y="3017520"/>
            <a:ext cx="548640" cy="548640"/>
          </a:xfrm>
          <a:prstGeom prst="ellipse">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044952"/>
            <a:ext cx="548640" cy="457200"/>
          </a:xfrm>
          <a:prstGeom prst="rect">
            <a:avLst/>
          </a:prstGeom>
          <a:noFill/>
        </p:spPr>
        <p:txBody>
          <a:bodyPr wrap="none">
            <a:spAutoFit/>
          </a:bodyPr>
          <a:lstStyle/>
          <a:p>
            <a:pPr algn="ctr">
              <a:defRPr sz="1600" b="1">
                <a:solidFill>
                  <a:srgbClr val="FFFFFF"/>
                </a:solidFill>
              </a:defRPr>
            </a:pPr>
            <a:r>
              <a:t>2</a:t>
            </a:r>
          </a:p>
        </p:txBody>
      </p:sp>
      <p:sp>
        <p:nvSpPr>
          <p:cNvPr id="12" name="TextBox 11"/>
          <p:cNvSpPr txBox="1"/>
          <p:nvPr/>
        </p:nvSpPr>
        <p:spPr>
          <a:xfrm>
            <a:off x="1737360" y="2898648"/>
            <a:ext cx="9418320" cy="777240"/>
          </a:xfrm>
          <a:prstGeom prst="rect">
            <a:avLst/>
          </a:prstGeom>
          <a:noFill/>
        </p:spPr>
        <p:txBody>
          <a:bodyPr wrap="square">
            <a:spAutoFit/>
          </a:bodyPr>
          <a:lstStyle/>
          <a:p>
            <a:pPr>
              <a:defRPr sz="1500" b="1">
                <a:solidFill>
                  <a:srgbClr val="0F172A"/>
                </a:solidFill>
              </a:defRPr>
            </a:pPr>
            <a:r>
              <a:t>🌐 MongoDB Atlas Cloud Cluster</a:t>
            </a:r>
          </a:p>
          <a:p>
            <a:pPr>
              <a:spcBef>
                <a:spcPts val="300"/>
              </a:spcBef>
              <a:defRPr sz="1200">
                <a:solidFill>
                  <a:srgbClr val="1E293B"/>
                </a:solidFill>
              </a:defRPr>
            </a:pPr>
            <a:r>
              <a:t>Migrated from local MongoDB to an M0 replica set hosted on AWS Mumbai with 0.0.0.0/0 network whitelist and secure SCRAM authentication.</a:t>
            </a:r>
          </a:p>
        </p:txBody>
      </p:sp>
      <p:sp>
        <p:nvSpPr>
          <p:cNvPr id="13" name="Rounded Rectangle 12"/>
          <p:cNvSpPr/>
          <p:nvPr/>
        </p:nvSpPr>
        <p:spPr>
          <a:xfrm>
            <a:off x="731520" y="3931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4160520"/>
            <a:ext cx="548640" cy="548640"/>
          </a:xfrm>
          <a:prstGeom prst="ellipse">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187952"/>
            <a:ext cx="548640" cy="457200"/>
          </a:xfrm>
          <a:prstGeom prst="rect">
            <a:avLst/>
          </a:prstGeom>
          <a:noFill/>
        </p:spPr>
        <p:txBody>
          <a:bodyPr wrap="none">
            <a:spAutoFit/>
          </a:bodyPr>
          <a:lstStyle/>
          <a:p>
            <a:pPr algn="ctr">
              <a:defRPr sz="1600" b="1">
                <a:solidFill>
                  <a:srgbClr val="FFFFFF"/>
                </a:solidFill>
              </a:defRPr>
            </a:pPr>
            <a:r>
              <a:t>3</a:t>
            </a:r>
          </a:p>
        </p:txBody>
      </p:sp>
      <p:sp>
        <p:nvSpPr>
          <p:cNvPr id="16" name="TextBox 15"/>
          <p:cNvSpPr txBox="1"/>
          <p:nvPr/>
        </p:nvSpPr>
        <p:spPr>
          <a:xfrm>
            <a:off x="1737360" y="4041648"/>
            <a:ext cx="9418320" cy="777240"/>
          </a:xfrm>
          <a:prstGeom prst="rect">
            <a:avLst/>
          </a:prstGeom>
          <a:noFill/>
        </p:spPr>
        <p:txBody>
          <a:bodyPr wrap="square">
            <a:spAutoFit/>
          </a:bodyPr>
          <a:lstStyle/>
          <a:p>
            <a:pPr>
              <a:defRPr sz="1500" b="1">
                <a:solidFill>
                  <a:srgbClr val="0F172A"/>
                </a:solidFill>
              </a:defRPr>
            </a:pPr>
            <a:r>
              <a:t>📦 Static Asset Bundling</a:t>
            </a:r>
          </a:p>
          <a:p>
            <a:pPr>
              <a:spcBef>
                <a:spcPts val="300"/>
              </a:spcBef>
              <a:defRPr sz="1200">
                <a:solidFill>
                  <a:srgbClr val="1E293B"/>
                </a:solidFill>
              </a:defRPr>
            </a:pPr>
            <a:r>
              <a:t>Solved serverless asset resolution by bundling views, partials, and styles via includeFiles and routing static assets directly through Express.</a:t>
            </a:r>
          </a:p>
        </p:txBody>
      </p:sp>
      <p:sp>
        <p:nvSpPr>
          <p:cNvPr id="17" name="Rounded Rectangle 16"/>
          <p:cNvSpPr/>
          <p:nvPr/>
        </p:nvSpPr>
        <p:spPr>
          <a:xfrm>
            <a:off x="731520" y="5074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5840" y="5303520"/>
            <a:ext cx="548640" cy="548640"/>
          </a:xfrm>
          <a:prstGeom prst="ellipse">
            <a:avLst/>
          </a:prstGeom>
          <a:solidFill>
            <a:srgbClr val="FE4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30952"/>
            <a:ext cx="548640" cy="457200"/>
          </a:xfrm>
          <a:prstGeom prst="rect">
            <a:avLst/>
          </a:prstGeom>
          <a:noFill/>
        </p:spPr>
        <p:txBody>
          <a:bodyPr wrap="none">
            <a:spAutoFit/>
          </a:bodyPr>
          <a:lstStyle/>
          <a:p>
            <a:pPr algn="ctr">
              <a:defRPr sz="1600" b="1">
                <a:solidFill>
                  <a:srgbClr val="FFFFFF"/>
                </a:solidFill>
              </a:defRPr>
            </a:pPr>
            <a:r>
              <a:t>4</a:t>
            </a:r>
          </a:p>
        </p:txBody>
      </p:sp>
      <p:sp>
        <p:nvSpPr>
          <p:cNvPr id="20" name="TextBox 19"/>
          <p:cNvSpPr txBox="1"/>
          <p:nvPr/>
        </p:nvSpPr>
        <p:spPr>
          <a:xfrm>
            <a:off x="1737360" y="5184648"/>
            <a:ext cx="9418320" cy="777240"/>
          </a:xfrm>
          <a:prstGeom prst="rect">
            <a:avLst/>
          </a:prstGeom>
          <a:noFill/>
        </p:spPr>
        <p:txBody>
          <a:bodyPr wrap="square">
            <a:spAutoFit/>
          </a:bodyPr>
          <a:lstStyle/>
          <a:p>
            <a:pPr>
              <a:defRPr sz="1500" b="1">
                <a:solidFill>
                  <a:srgbClr val="0F172A"/>
                </a:solidFill>
              </a:defRPr>
            </a:pPr>
            <a:r>
              <a:t>🔐 Environment Variable Isolation</a:t>
            </a:r>
          </a:p>
          <a:p>
            <a:pPr>
              <a:spcBef>
                <a:spcPts val="300"/>
              </a:spcBef>
              <a:defRPr sz="1200">
                <a:solidFill>
                  <a:srgbClr val="1E293B"/>
                </a:solidFill>
              </a:defRPr>
            </a:pPr>
            <a:r>
              <a:t>Sensitive API secrets (ATLASDB_URL, CLOUD_NAME, MAP_TOKEN, SECRET) are stored encrypted in Vercel's production environment variables.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20040"/>
          </a:xfrm>
          <a:prstGeom prst="rect">
            <a:avLst/>
          </a:prstGeom>
          <a:noFill/>
        </p:spPr>
        <p:txBody>
          <a:bodyPr wrap="none">
            <a:spAutoFit/>
          </a:bodyPr>
          <a:lstStyle/>
          <a:p>
            <a:pPr>
              <a:defRPr sz="1100" b="1">
                <a:solidFill>
                  <a:srgbClr val="FE424D"/>
                </a:solidFill>
              </a:defRPr>
            </a:pPr>
            <a:r>
              <a:t>STAYHIVE PROJECT PRESENTATION</a:t>
            </a:r>
          </a:p>
        </p:txBody>
      </p:sp>
      <p:sp>
        <p:nvSpPr>
          <p:cNvPr id="4" name="TextBox 3"/>
          <p:cNvSpPr txBox="1"/>
          <p:nvPr/>
        </p:nvSpPr>
        <p:spPr>
          <a:xfrm>
            <a:off x="731520" y="777240"/>
            <a:ext cx="10698480" cy="640080"/>
          </a:xfrm>
          <a:prstGeom prst="rect">
            <a:avLst/>
          </a:prstGeom>
          <a:noFill/>
        </p:spPr>
        <p:txBody>
          <a:bodyPr wrap="none">
            <a:spAutoFit/>
          </a:bodyPr>
          <a:lstStyle/>
          <a:p>
            <a:pPr>
              <a:defRPr sz="2800" b="1">
                <a:solidFill>
                  <a:srgbClr val="0F172A"/>
                </a:solidFill>
              </a:defRPr>
            </a:pPr>
            <a:r>
              <a:t>Technical Challenges &amp; Solutions</a:t>
            </a:r>
          </a:p>
        </p:txBody>
      </p:sp>
      <p:sp>
        <p:nvSpPr>
          <p:cNvPr id="5" name="Rounded Rectangle 4"/>
          <p:cNvSpPr/>
          <p:nvPr/>
        </p:nvSpPr>
        <p:spPr>
          <a:xfrm>
            <a:off x="7315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54880" cy="1920240"/>
          </a:xfrm>
          <a:prstGeom prst="rect">
            <a:avLst/>
          </a:prstGeom>
          <a:noFill/>
        </p:spPr>
        <p:txBody>
          <a:bodyPr wrap="square">
            <a:spAutoFit/>
          </a:bodyPr>
          <a:lstStyle/>
          <a:p>
            <a:pPr>
              <a:defRPr sz="1600" b="1">
                <a:solidFill>
                  <a:srgbClr val="FE424D"/>
                </a:solidFill>
              </a:defRPr>
            </a:pPr>
            <a:r>
              <a:t>⚙️ Serverless Asset 404s</a:t>
            </a:r>
          </a:p>
          <a:p>
            <a:pPr>
              <a:spcBef>
                <a:spcPts val="600"/>
              </a:spcBef>
              <a:defRPr sz="1200">
                <a:solidFill>
                  <a:srgbClr val="0F172A"/>
                </a:solidFill>
              </a:defRPr>
            </a:pPr>
            <a:r>
              <a:t>Challenge: Vercel serverless functions do not share local filesystem paths by default, causing missing EJS views and 404s on style.css.</a:t>
            </a:r>
          </a:p>
          <a:p>
            <a:pPr>
              <a:spcBef>
                <a:spcPts val="600"/>
              </a:spcBef>
              <a:defRPr sz="1200">
                <a:solidFill>
                  <a:srgbClr val="10B981"/>
                </a:solidFill>
              </a:defRPr>
            </a:pPr>
            <a:r>
              <a:t>Solution: Configured vercel.json with comprehensive includeFiles globs and routed static requests through express.static(__dirname).</a:t>
            </a:r>
          </a:p>
        </p:txBody>
      </p:sp>
      <p:sp>
        <p:nvSpPr>
          <p:cNvPr id="7" name="Rounded Rectangle 6"/>
          <p:cNvSpPr/>
          <p:nvPr/>
        </p:nvSpPr>
        <p:spPr>
          <a:xfrm>
            <a:off x="62179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83080"/>
            <a:ext cx="4754880" cy="1920240"/>
          </a:xfrm>
          <a:prstGeom prst="rect">
            <a:avLst/>
          </a:prstGeom>
          <a:noFill/>
        </p:spPr>
        <p:txBody>
          <a:bodyPr wrap="square">
            <a:spAutoFit/>
          </a:bodyPr>
          <a:lstStyle/>
          <a:p>
            <a:pPr>
              <a:defRPr sz="1600" b="1">
                <a:solidFill>
                  <a:srgbClr val="0EA5E9"/>
                </a:solidFill>
              </a:defRPr>
            </a:pPr>
            <a:r>
              <a:t>⚙️ Database Connection Lifecycle</a:t>
            </a:r>
          </a:p>
          <a:p>
            <a:pPr>
              <a:spcBef>
                <a:spcPts val="600"/>
              </a:spcBef>
              <a:defRPr sz="1200">
                <a:solidFill>
                  <a:srgbClr val="0F172A"/>
                </a:solidFill>
              </a:defRPr>
            </a:pPr>
            <a:r>
              <a:t>Challenge: Serverless invocations create multiple concurrent connections, risking MongoDB connection exhaustion.</a:t>
            </a:r>
          </a:p>
          <a:p>
            <a:pPr>
              <a:spcBef>
                <a:spcPts val="600"/>
              </a:spcBef>
              <a:defRPr sz="1200">
                <a:solidFill>
                  <a:srgbClr val="10B981"/>
                </a:solidFill>
              </a:defRPr>
            </a:pPr>
            <a:r>
              <a:t>Solution: Implemented connection state caching (mongoose.connection.readyState) to reuse active connections across serverless requests.</a:t>
            </a:r>
          </a:p>
        </p:txBody>
      </p:sp>
      <p:sp>
        <p:nvSpPr>
          <p:cNvPr id="9" name="Rounded Rectangle 8"/>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06240"/>
            <a:ext cx="4754880" cy="1920240"/>
          </a:xfrm>
          <a:prstGeom prst="rect">
            <a:avLst/>
          </a:prstGeom>
          <a:noFill/>
        </p:spPr>
        <p:txBody>
          <a:bodyPr wrap="square">
            <a:spAutoFit/>
          </a:bodyPr>
          <a:lstStyle/>
          <a:p>
            <a:pPr>
              <a:defRPr sz="1600" b="1">
                <a:solidFill>
                  <a:srgbClr val="FE424D"/>
                </a:solidFill>
              </a:defRPr>
            </a:pPr>
            <a:r>
              <a:t>⚙️ Mapbox Geocoding Synchronization</a:t>
            </a:r>
          </a:p>
          <a:p>
            <a:pPr>
              <a:spcBef>
                <a:spcPts val="600"/>
              </a:spcBef>
              <a:defRPr sz="1200">
                <a:solidFill>
                  <a:srgbClr val="0F172A"/>
                </a:solidFill>
              </a:defRPr>
            </a:pPr>
            <a:r>
              <a:t>Challenge: Addresses with minor misspellings could fail or return empty coordinate arrays, crashing map rendering.</a:t>
            </a:r>
          </a:p>
          <a:p>
            <a:pPr>
              <a:spcBef>
                <a:spcPts val="600"/>
              </a:spcBef>
              <a:defRPr sz="1200">
                <a:solidFill>
                  <a:srgbClr val="10B981"/>
                </a:solidFill>
              </a:defRPr>
            </a:pPr>
            <a:r>
              <a:t>Solution: Added defensive conditional checks on response.body.features and fallback coordinates with null-safe EJS checks.</a:t>
            </a:r>
          </a:p>
        </p:txBody>
      </p:sp>
      <p:sp>
        <p:nvSpPr>
          <p:cNvPr id="11" name="Rounded Rectangle 10"/>
          <p:cNvSpPr/>
          <p:nvPr/>
        </p:nvSpPr>
        <p:spPr>
          <a:xfrm>
            <a:off x="62179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206240"/>
            <a:ext cx="4754880" cy="1920240"/>
          </a:xfrm>
          <a:prstGeom prst="rect">
            <a:avLst/>
          </a:prstGeom>
          <a:noFill/>
        </p:spPr>
        <p:txBody>
          <a:bodyPr wrap="square">
            <a:spAutoFit/>
          </a:bodyPr>
          <a:lstStyle/>
          <a:p>
            <a:pPr>
              <a:defRPr sz="1600" b="1">
                <a:solidFill>
                  <a:srgbClr val="0EA5E9"/>
                </a:solidFill>
              </a:defRPr>
            </a:pPr>
            <a:r>
              <a:t>⚙️ Cascade Review Cleanup</a:t>
            </a:r>
          </a:p>
          <a:p>
            <a:pPr>
              <a:spcBef>
                <a:spcPts val="600"/>
              </a:spcBef>
              <a:defRPr sz="1200">
                <a:solidFill>
                  <a:srgbClr val="0F172A"/>
                </a:solidFill>
              </a:defRPr>
            </a:pPr>
            <a:r>
              <a:t>Challenge: Deleting a listing left orphaned reviews in the database, cluttering storage.</a:t>
            </a:r>
          </a:p>
          <a:p>
            <a:pPr>
              <a:spcBef>
                <a:spcPts val="600"/>
              </a:spcBef>
              <a:defRPr sz="1200">
                <a:solidFill>
                  <a:srgbClr val="10B981"/>
                </a:solidFill>
              </a:defRPr>
            </a:pPr>
            <a:r>
              <a:t>Solution: Implemented a Mongoose post('findOneAndDelete') hook that automatically triggers Review.deleteMany for all linked IDs.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698480" cy="822960"/>
          </a:xfrm>
          <a:prstGeom prst="rect">
            <a:avLst/>
          </a:prstGeom>
          <a:noFill/>
        </p:spPr>
        <p:txBody>
          <a:bodyPr wrap="none">
            <a:spAutoFit/>
          </a:bodyPr>
          <a:lstStyle/>
          <a:p>
            <a:pPr>
              <a:defRPr sz="1200" b="1">
                <a:solidFill>
                  <a:srgbClr val="FE424D"/>
                </a:solidFill>
              </a:defRPr>
            </a:pPr>
            <a:r>
              <a:t>ROADMAP &amp; CLOSING</a:t>
            </a:r>
          </a:p>
          <a:p>
            <a:pPr>
              <a:spcBef>
                <a:spcPts val="400"/>
              </a:spcBef>
              <a:defRPr sz="2800" b="1">
                <a:solidFill>
                  <a:srgbClr val="FFFFFF"/>
                </a:solidFill>
              </a:defRPr>
            </a:pPr>
            <a:r>
              <a:t>Future Roadmap &amp; Project Conclusion</a:t>
            </a:r>
          </a:p>
        </p:txBody>
      </p:sp>
      <p:sp>
        <p:nvSpPr>
          <p:cNvPr id="4" name="Rounded Rectangle 3"/>
          <p:cNvSpPr/>
          <p:nvPr/>
        </p:nvSpPr>
        <p:spPr>
          <a:xfrm>
            <a:off x="731520" y="1828800"/>
            <a:ext cx="521208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4663440" cy="4023360"/>
          </a:xfrm>
          <a:prstGeom prst="rect">
            <a:avLst/>
          </a:prstGeom>
          <a:noFill/>
        </p:spPr>
        <p:txBody>
          <a:bodyPr wrap="square">
            <a:spAutoFit/>
          </a:bodyPr>
          <a:lstStyle/>
          <a:p>
            <a:pPr>
              <a:defRPr sz="1800" b="1">
                <a:solidFill>
                  <a:srgbClr val="0EA5E9"/>
                </a:solidFill>
              </a:defRPr>
            </a:pPr>
            <a:r>
              <a:t>🚀 Future Enhancements</a:t>
            </a:r>
          </a:p>
          <a:p>
            <a:pPr>
              <a:spcBef>
                <a:spcPts val="1200"/>
              </a:spcBef>
              <a:defRPr sz="1300">
                <a:solidFill>
                  <a:srgbClr val="FFFFFF"/>
                </a:solidFill>
              </a:defRPr>
            </a:pPr>
            <a:r>
              <a:t>• 💳 Payment Gateway Integration: Stripe &amp; Razorpay checkout for instant booking payments.</a:t>
            </a:r>
          </a:p>
          <a:p>
            <a:pPr>
              <a:spcBef>
                <a:spcPts val="1200"/>
              </a:spcBef>
              <a:defRPr sz="1300">
                <a:solidFill>
                  <a:srgbClr val="FFFFFF"/>
                </a:solidFill>
              </a:defRPr>
            </a:pPr>
            <a:r>
              <a:t>• 📅 Date Picker &amp; Booking Engine: Interactive availability calendar with reservation confirmation.</a:t>
            </a:r>
          </a:p>
          <a:p>
            <a:pPr>
              <a:spcBef>
                <a:spcPts val="1200"/>
              </a:spcBef>
              <a:defRPr sz="1300">
                <a:solidFill>
                  <a:srgbClr val="FFFFFF"/>
                </a:solidFill>
              </a:defRPr>
            </a:pPr>
            <a:r>
              <a:t>• 💬 Real-Time Messaging: Host-to-guest WebSockets chat for stay coordination.</a:t>
            </a:r>
          </a:p>
          <a:p>
            <a:pPr>
              <a:spcBef>
                <a:spcPts val="1200"/>
              </a:spcBef>
              <a:defRPr sz="1300">
                <a:solidFill>
                  <a:srgbClr val="FFFFFF"/>
                </a:solidFill>
              </a:defRPr>
            </a:pPr>
            <a:r>
              <a:t>• 🔍 Full-Text Elasticsearch: Intelligent search by price range, amenities, and guest count.</a:t>
            </a:r>
          </a:p>
        </p:txBody>
      </p:sp>
      <p:sp>
        <p:nvSpPr>
          <p:cNvPr id="6" name="Rounded Rectangle 5"/>
          <p:cNvSpPr/>
          <p:nvPr/>
        </p:nvSpPr>
        <p:spPr>
          <a:xfrm>
            <a:off x="6217920" y="1828800"/>
            <a:ext cx="521208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4023360"/>
          </a:xfrm>
          <a:prstGeom prst="rect">
            <a:avLst/>
          </a:prstGeom>
          <a:noFill/>
        </p:spPr>
        <p:txBody>
          <a:bodyPr wrap="square">
            <a:spAutoFit/>
          </a:bodyPr>
          <a:lstStyle/>
          <a:p>
            <a:pPr>
              <a:defRPr sz="1800" b="1">
                <a:solidFill>
                  <a:srgbClr val="FE424D"/>
                </a:solidFill>
              </a:defRPr>
            </a:pPr>
            <a:r>
              <a:t>🎉 Project Summary</a:t>
            </a:r>
          </a:p>
          <a:p>
            <a:pPr>
              <a:spcBef>
                <a:spcPts val="1000"/>
              </a:spcBef>
              <a:defRPr sz="1300">
                <a:solidFill>
                  <a:srgbClr val="FFFFFF"/>
                </a:solidFill>
              </a:defRPr>
            </a:pPr>
            <a:r>
              <a:t>✔ Fully deployed, production-grade web application combining modern cloud services.</a:t>
            </a:r>
          </a:p>
          <a:p>
            <a:pPr>
              <a:spcBef>
                <a:spcPts val="1000"/>
              </a:spcBef>
              <a:defRPr sz="1300">
                <a:solidFill>
                  <a:srgbClr val="FFFFFF"/>
                </a:solidFill>
              </a:defRPr>
            </a:pPr>
            <a:r>
              <a:t>✔ Demonstrates complete mastery of the MVC architecture and RESTful design principles.</a:t>
            </a:r>
          </a:p>
          <a:p>
            <a:pPr>
              <a:spcBef>
                <a:spcPts val="1000"/>
              </a:spcBef>
              <a:defRPr sz="1300">
                <a:solidFill>
                  <a:srgbClr val="FFFFFF"/>
                </a:solidFill>
              </a:defRPr>
            </a:pPr>
            <a:r>
              <a:t>✔ Enterprise security standards with role-based authorization and salt hashing.</a:t>
            </a:r>
          </a:p>
          <a:p>
            <a:pPr>
              <a:spcBef>
                <a:spcPts val="1000"/>
              </a:spcBef>
              <a:defRPr sz="1300">
                <a:solidFill>
                  <a:srgbClr val="FFFFFF"/>
                </a:solidFill>
              </a:defRPr>
            </a:pPr>
            <a:r>
              <a:t>✔ Live on Vercel and accessible worldwide on any device.</a:t>
            </a:r>
          </a:p>
        </p:txBody>
      </p:sp>
      <p:sp>
        <p:nvSpPr>
          <p:cNvPr id="8" name="TextBox 7"/>
          <p:cNvSpPr txBox="1"/>
          <p:nvPr/>
        </p:nvSpPr>
        <p:spPr>
          <a:xfrm>
            <a:off x="6492240" y="4937760"/>
            <a:ext cx="4663440" cy="1097280"/>
          </a:xfrm>
          <a:prstGeom prst="rect">
            <a:avLst/>
          </a:prstGeom>
          <a:noFill/>
        </p:spPr>
        <p:txBody>
          <a:bodyPr wrap="none">
            <a:spAutoFit/>
          </a:bodyPr>
          <a:lstStyle/>
          <a:p>
            <a:pPr>
              <a:defRPr sz="1400" b="1">
                <a:solidFill>
                  <a:srgbClr val="FE424D"/>
                </a:solidFill>
              </a:defRPr>
            </a:pPr>
            <a:r>
              <a:t>🌐 Live Demo URL:</a:t>
            </a:r>
          </a:p>
          <a:p>
            <a:pPr>
              <a:spcBef>
                <a:spcPts val="400"/>
              </a:spcBef>
              <a:defRPr sz="1300">
                <a:solidFill>
                  <a:srgbClr val="0EA5E9"/>
                </a:solidFill>
              </a:defRPr>
            </a:pPr>
            <a:r>
              <a:t>https://stay-hive-three.vercel.app/listings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